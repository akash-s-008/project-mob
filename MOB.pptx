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4"/>
  </p:notesMasterIdLst>
  <p:handoutMasterIdLst>
    <p:handoutMasterId r:id="rId15"/>
  </p:handoutMasterIdLst>
  <p:sldIdLst>
    <p:sldId id="256" r:id="rId5"/>
    <p:sldId id="277" r:id="rId6"/>
    <p:sldId id="261" r:id="rId7"/>
    <p:sldId id="262" r:id="rId8"/>
    <p:sldId id="289" r:id="rId9"/>
    <p:sldId id="264" r:id="rId10"/>
    <p:sldId id="278" r:id="rId11"/>
    <p:sldId id="275" r:id="rId12"/>
    <p:sldId id="27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9" autoAdjust="0"/>
  </p:normalViewPr>
  <p:slideViewPr>
    <p:cSldViewPr snapToGrid="0">
      <p:cViewPr varScale="1">
        <p:scale>
          <a:sx n="74" d="100"/>
          <a:sy n="74" d="100"/>
        </p:scale>
        <p:origin x="1042" y="67"/>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9/22/2026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9/22/2026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5981701" y="3865418"/>
            <a:ext cx="5905500" cy="725269"/>
          </a:xfrm>
        </p:spPr>
        <p:txBody>
          <a:bodyPr/>
          <a:lstStyle/>
          <a:p>
            <a:r>
              <a:rPr lang="en-US" sz="4000" b="1" dirty="0"/>
              <a:t>LEVIATHAN PROTOCOL</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5153345" y="5081155"/>
            <a:ext cx="6848156" cy="860832"/>
          </a:xfrm>
        </p:spPr>
        <p:txBody>
          <a:bodyPr>
            <a:normAutofit fontScale="92500" lnSpcReduction="10000"/>
          </a:bodyPr>
          <a:lstStyle/>
          <a:p>
            <a:r>
              <a:rPr lang="en-US" sz="2400" dirty="0"/>
              <a:t>AUTONOMOUS MARITIME RESCUE SYSTEM</a:t>
            </a:r>
          </a:p>
          <a:p>
            <a:r>
              <a:rPr lang="en-US" sz="2400" dirty="0"/>
              <a:t>              Project MOB Guard System</a:t>
            </a:r>
          </a:p>
        </p:txBody>
      </p:sp>
      <p:pic>
        <p:nvPicPr>
          <p:cNvPr id="5" name="Picture 4" descr="A logo of a dragon&#10;&#10;Description automatically generated">
            <a:extLst>
              <a:ext uri="{FF2B5EF4-FFF2-40B4-BE49-F238E27FC236}">
                <a16:creationId xmlns:a16="http://schemas.microsoft.com/office/drawing/2014/main" id="{6EE1EADC-4729-9D6C-46E5-45431DE2673F}"/>
              </a:ext>
            </a:extLst>
          </p:cNvPr>
          <p:cNvPicPr>
            <a:picLocks noChangeAspect="1"/>
          </p:cNvPicPr>
          <p:nvPr/>
        </p:nvPicPr>
        <p:blipFill>
          <a:blip r:embed="rId2"/>
          <a:stretch>
            <a:fillRect/>
          </a:stretch>
        </p:blipFill>
        <p:spPr>
          <a:xfrm>
            <a:off x="10767642" y="0"/>
            <a:ext cx="1424358" cy="1425678"/>
          </a:xfrm>
          <a:prstGeom prst="rect">
            <a:avLst/>
          </a:prstGeom>
        </p:spPr>
      </p:pic>
      <p:pic>
        <p:nvPicPr>
          <p:cNvPr id="6" name="Picture 5">
            <a:extLst>
              <a:ext uri="{FF2B5EF4-FFF2-40B4-BE49-F238E27FC236}">
                <a16:creationId xmlns:a16="http://schemas.microsoft.com/office/drawing/2014/main" id="{C7537B53-6FE1-8753-CC9C-4DB79698A430}"/>
              </a:ext>
            </a:extLst>
          </p:cNvPr>
          <p:cNvPicPr>
            <a:picLocks noChangeAspect="1"/>
          </p:cNvPicPr>
          <p:nvPr/>
        </p:nvPicPr>
        <p:blipFill>
          <a:blip r:embed="rId3"/>
          <a:stretch>
            <a:fillRect/>
          </a:stretch>
        </p:blipFill>
        <p:spPr>
          <a:xfrm>
            <a:off x="1" y="1"/>
            <a:ext cx="1714500" cy="1714500"/>
          </a:xfrm>
          <a:prstGeom prst="rect">
            <a:avLst/>
          </a:prstGeom>
          <a:ln>
            <a:noFill/>
          </a:ln>
          <a:effectLst>
            <a:softEdge rad="112500"/>
          </a:effectLst>
        </p:spPr>
      </p:pic>
    </p:spTree>
    <p:extLst>
      <p:ext uri="{BB962C8B-B14F-4D97-AF65-F5344CB8AC3E}">
        <p14:creationId xmlns:p14="http://schemas.microsoft.com/office/powerpoint/2010/main" val="16424253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9" y="511290"/>
            <a:ext cx="3171825" cy="1325563"/>
          </a:xfrm>
        </p:spPr>
        <p:txBody>
          <a:bodyPr>
            <a:normAutofit/>
          </a:bodyPr>
          <a:lstStyle/>
          <a:p>
            <a:r>
              <a:rPr lang="en-US" sz="3600" b="1" dirty="0"/>
              <a:t>ABOUT The Project</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9" y="2286000"/>
            <a:ext cx="4277592" cy="3447646"/>
          </a:xfrm>
        </p:spPr>
        <p:txBody>
          <a:bodyPr>
            <a:normAutofit/>
          </a:bodyPr>
          <a:lstStyle/>
          <a:p>
            <a:r>
              <a:rPr lang="en-US" sz="1600" dirty="0"/>
              <a:t>Project MOB-Guard is an IoT-enabled maritime rescue system that solves critical man-overboard emergencies. Using a water-activated, GPS-tracking LoRa wristband, it detects falls instantly without cellular networks. An autonomous micro-boat launches immediately to deliver flotation aids, rations, and precise telemetry, dramatically reducing response times and preventing fatalities.</a:t>
            </a:r>
          </a:p>
          <a:p>
            <a:r>
              <a:rPr lang="en-US" sz="1600" dirty="0"/>
              <a:t>MOB – Man Over Board</a:t>
            </a:r>
          </a:p>
        </p:txBody>
      </p:sp>
      <p:sp>
        <p:nvSpPr>
          <p:cNvPr id="6" name="Date Placeholder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a:lstStyle/>
          <a:p>
            <a:r>
              <a:rPr lang="en-US" dirty="0"/>
              <a:t>2026</a:t>
            </a:r>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a:lstStyle/>
          <a:p>
            <a:r>
              <a:rPr lang="en-US" dirty="0"/>
              <a:t>LEVIATHAN PROTOCOL</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838200" y="5610442"/>
            <a:ext cx="4082142" cy="745908"/>
          </a:xfrm>
        </p:spPr>
        <p:txBody>
          <a:bodyPr>
            <a:normAutofit/>
          </a:bodyPr>
          <a:lstStyle/>
          <a:p>
            <a:r>
              <a:rPr lang="en-US" sz="4000" b="1" u="sng" dirty="0"/>
              <a:t>PROBLEMs</a:t>
            </a:r>
          </a:p>
        </p:txBody>
      </p:sp>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187036" y="1189214"/>
            <a:ext cx="2462646" cy="997961"/>
          </a:xfrm>
        </p:spPr>
        <p:txBody>
          <a:bodyPr vert="horz" lIns="91440" tIns="45720" rIns="91440" bIns="45720" rtlCol="0" anchor="ctr">
            <a:normAutofit/>
          </a:bodyPr>
          <a:lstStyle/>
          <a:p>
            <a:pPr algn="ctr"/>
            <a:r>
              <a:rPr lang="en-US" b="1" dirty="0"/>
              <a:t>Solo &amp; Small-Crew Offshore Operations</a:t>
            </a:r>
          </a:p>
        </p:txBody>
      </p:sp>
      <p:sp>
        <p:nvSpPr>
          <p:cNvPr id="4" name="Text Placeholder 3">
            <a:extLst>
              <a:ext uri="{FF2B5EF4-FFF2-40B4-BE49-F238E27FC236}">
                <a16:creationId xmlns:a16="http://schemas.microsoft.com/office/drawing/2014/main" id="{F5FF1291-56EB-4A7B-A198-1D91F9ECC5D3}"/>
              </a:ext>
            </a:extLst>
          </p:cNvPr>
          <p:cNvSpPr>
            <a:spLocks noGrp="1"/>
          </p:cNvSpPr>
          <p:nvPr>
            <p:ph type="body" sz="quarter" idx="14"/>
          </p:nvPr>
        </p:nvSpPr>
        <p:spPr>
          <a:xfrm>
            <a:off x="436170" y="2574349"/>
            <a:ext cx="2669103" cy="702978"/>
          </a:xfrm>
        </p:spPr>
        <p:txBody>
          <a:bodyPr/>
          <a:lstStyle/>
          <a:p>
            <a:pPr algn="ctr"/>
            <a:r>
              <a:rPr lang="en-US" b="1" dirty="0"/>
              <a:t>High-Elevation Industrial Marine Work</a:t>
            </a:r>
          </a:p>
        </p:txBody>
      </p:sp>
      <p:sp>
        <p:nvSpPr>
          <p:cNvPr id="5" name="Text Placeholder 4">
            <a:extLst>
              <a:ext uri="{FF2B5EF4-FFF2-40B4-BE49-F238E27FC236}">
                <a16:creationId xmlns:a16="http://schemas.microsoft.com/office/drawing/2014/main" id="{6184E21C-7534-4FB5-9709-F7D1A11034F3}"/>
              </a:ext>
            </a:extLst>
          </p:cNvPr>
          <p:cNvSpPr>
            <a:spLocks noGrp="1"/>
          </p:cNvSpPr>
          <p:nvPr>
            <p:ph type="body" sz="quarter" idx="15"/>
          </p:nvPr>
        </p:nvSpPr>
        <p:spPr>
          <a:xfrm>
            <a:off x="399391" y="3681952"/>
            <a:ext cx="3182009" cy="514350"/>
          </a:xfrm>
        </p:spPr>
        <p:txBody>
          <a:bodyPr/>
          <a:lstStyle/>
          <a:p>
            <a:pPr algn="ctr"/>
            <a:r>
              <a:rPr lang="en-US" b="1" dirty="0"/>
              <a:t>Commercial Shipping &amp; Night-Shift Transits</a:t>
            </a:r>
          </a:p>
        </p:txBody>
      </p:sp>
      <p:sp>
        <p:nvSpPr>
          <p:cNvPr id="6" name="Text Placeholder 5">
            <a:extLst>
              <a:ext uri="{FF2B5EF4-FFF2-40B4-BE49-F238E27FC236}">
                <a16:creationId xmlns:a16="http://schemas.microsoft.com/office/drawing/2014/main" id="{5C594564-4FC6-401A-8586-44735EE819EC}"/>
              </a:ext>
            </a:extLst>
          </p:cNvPr>
          <p:cNvSpPr>
            <a:spLocks noGrp="1"/>
          </p:cNvSpPr>
          <p:nvPr>
            <p:ph type="body" sz="quarter" idx="16"/>
          </p:nvPr>
        </p:nvSpPr>
        <p:spPr>
          <a:xfrm>
            <a:off x="696192" y="4710113"/>
            <a:ext cx="3496664" cy="514350"/>
          </a:xfrm>
        </p:spPr>
        <p:txBody>
          <a:bodyPr/>
          <a:lstStyle/>
          <a:p>
            <a:r>
              <a:rPr lang="en-US" b="1" dirty="0"/>
              <a:t>Low-Visibility &amp; Cold-Water Environments</a:t>
            </a:r>
          </a:p>
        </p:txBody>
      </p:sp>
      <p:sp>
        <p:nvSpPr>
          <p:cNvPr id="7" name="Text Placeholder 6">
            <a:extLst>
              <a:ext uri="{FF2B5EF4-FFF2-40B4-BE49-F238E27FC236}">
                <a16:creationId xmlns:a16="http://schemas.microsoft.com/office/drawing/2014/main" id="{D7EB25CA-DA83-483D-AF83-0001BDF2DE2B}"/>
              </a:ext>
            </a:extLst>
          </p:cNvPr>
          <p:cNvSpPr>
            <a:spLocks noGrp="1"/>
          </p:cNvSpPr>
          <p:nvPr>
            <p:ph type="body" sz="quarter" idx="17"/>
          </p:nvPr>
        </p:nvSpPr>
        <p:spPr>
          <a:xfrm>
            <a:off x="4422317" y="893619"/>
            <a:ext cx="7292057" cy="1475216"/>
          </a:xfrm>
        </p:spPr>
        <p:txBody>
          <a:bodyPr>
            <a:normAutofit lnSpcReduction="10000"/>
          </a:bodyPr>
          <a:lstStyle/>
          <a:p>
            <a:r>
              <a:rPr lang="en-US" b="1" dirty="0"/>
              <a:t>Commercial Fishing &amp; Trawling</a:t>
            </a:r>
            <a:r>
              <a:rPr lang="en-US" dirty="0"/>
              <a:t>: Crews work slippery, exposed decks under heavy swell with minimal personnel on watch. If a crew member falls, others often don’t notice for hours. </a:t>
            </a:r>
          </a:p>
          <a:p>
            <a:r>
              <a:rPr lang="en-US" b="1" dirty="0"/>
              <a:t>Solo Sailors &amp; Long-Distance Regattas</a:t>
            </a:r>
            <a:r>
              <a:rPr lang="en-US" dirty="0"/>
              <a:t>: A single-handed sailor who falls overboard has zero chance of turning their boat around. An autonomous mini-tender launched from the stern is their sole physical lifeline.</a:t>
            </a:r>
          </a:p>
        </p:txBody>
      </p:sp>
      <p:sp>
        <p:nvSpPr>
          <p:cNvPr id="8" name="Text Placehold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557463"/>
            <a:ext cx="6516708" cy="871537"/>
          </a:xfrm>
        </p:spPr>
        <p:txBody>
          <a:bodyPr>
            <a:normAutofit fontScale="92500" lnSpcReduction="10000"/>
          </a:bodyPr>
          <a:lstStyle/>
          <a:p>
            <a:r>
              <a:rPr lang="en-US" b="1" dirty="0"/>
              <a:t>Offshore Oil Rigs &amp; Wind Turbines</a:t>
            </a:r>
            <a:r>
              <a:rPr lang="en-US" dirty="0"/>
              <a:t>: Technicians work dozens of meters above the water. A fall can cause impact injury, loss of consciousness, or immediate disorientation. Immersion-triggered tracking ensures rescue launches without relying on manual activation.</a:t>
            </a:r>
          </a:p>
        </p:txBody>
      </p:sp>
      <p:sp>
        <p:nvSpPr>
          <p:cNvPr id="9" name="Text Placeholder 8">
            <a:extLst>
              <a:ext uri="{FF2B5EF4-FFF2-40B4-BE49-F238E27FC236}">
                <a16:creationId xmlns:a16="http://schemas.microsoft.com/office/drawing/2014/main" id="{1C7D5285-85DF-4331-A6FA-1AE847CA47AE}"/>
              </a:ext>
            </a:extLst>
          </p:cNvPr>
          <p:cNvSpPr>
            <a:spLocks noGrp="1"/>
          </p:cNvSpPr>
          <p:nvPr>
            <p:ph type="body" sz="quarter" idx="19"/>
          </p:nvPr>
        </p:nvSpPr>
        <p:spPr>
          <a:xfrm>
            <a:off x="5543241" y="3617628"/>
            <a:ext cx="5539095" cy="1010842"/>
          </a:xfrm>
        </p:spPr>
        <p:txBody>
          <a:bodyPr/>
          <a:lstStyle/>
          <a:p>
            <a:r>
              <a:rPr lang="en-US" b="1" dirty="0"/>
              <a:t>Unnoticed Night Falls on Cargo Vessels</a:t>
            </a:r>
            <a:r>
              <a:rPr lang="en-US" dirty="0"/>
              <a:t>: On giant container ships and bulk carriers, crew members rarely walk the deck in groups at night. A missing person might only be realized during shift roll-call hours later.</a:t>
            </a:r>
          </a:p>
        </p:txBody>
      </p:sp>
      <p:sp>
        <p:nvSpPr>
          <p:cNvPr id="10" name="Text Placeholder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539095" cy="1010842"/>
          </a:xfrm>
        </p:spPr>
        <p:txBody>
          <a:bodyPr/>
          <a:lstStyle/>
          <a:p>
            <a:r>
              <a:rPr lang="en-US" b="1" dirty="0"/>
              <a:t>Heavy Fog, Severe Swell, and Night Seas</a:t>
            </a:r>
            <a:r>
              <a:rPr lang="en-US" dirty="0"/>
              <a:t>: Visual human search via binoculars and spotters fails in 3+ meter swells or dense fog. GPS-guided autonomous surface vehicles navigate blindly and accurately using sensor coordinates.</a:t>
            </a:r>
          </a:p>
        </p:txBody>
      </p:sp>
      <p:sp>
        <p:nvSpPr>
          <p:cNvPr id="11" name="Date Placeholder 10">
            <a:extLst>
              <a:ext uri="{FF2B5EF4-FFF2-40B4-BE49-F238E27FC236}">
                <a16:creationId xmlns:a16="http://schemas.microsoft.com/office/drawing/2014/main" id="{40BF6865-7FAE-4B56-A995-ADF1582DCC64}"/>
              </a:ext>
            </a:extLst>
          </p:cNvPr>
          <p:cNvSpPr>
            <a:spLocks noGrp="1"/>
          </p:cNvSpPr>
          <p:nvPr>
            <p:ph type="dt" sz="half" idx="10"/>
          </p:nvPr>
        </p:nvSpPr>
        <p:spPr>
          <a:xfrm>
            <a:off x="838200" y="6356350"/>
            <a:ext cx="2743200" cy="365125"/>
          </a:xfrm>
        </p:spPr>
        <p:txBody>
          <a:bodyPr/>
          <a:lstStyle/>
          <a:p>
            <a:r>
              <a:rPr lang="en-US" dirty="0"/>
              <a:t>2026</a:t>
            </a:r>
          </a:p>
        </p:txBody>
      </p:sp>
      <p:sp>
        <p:nvSpPr>
          <p:cNvPr id="12" name="Footer Placeholder 11">
            <a:extLst>
              <a:ext uri="{FF2B5EF4-FFF2-40B4-BE49-F238E27FC236}">
                <a16:creationId xmlns:a16="http://schemas.microsoft.com/office/drawing/2014/main" id="{7312B71A-5E84-41DE-9754-5F6291F6DFB7}"/>
              </a:ext>
            </a:extLst>
          </p:cNvPr>
          <p:cNvSpPr>
            <a:spLocks noGrp="1"/>
          </p:cNvSpPr>
          <p:nvPr>
            <p:ph type="ftr" sz="quarter" idx="11"/>
          </p:nvPr>
        </p:nvSpPr>
        <p:spPr>
          <a:xfrm>
            <a:off x="6155823" y="6356350"/>
            <a:ext cx="1808712" cy="365125"/>
          </a:xfrm>
        </p:spPr>
        <p:txBody>
          <a:bodyPr/>
          <a:lstStyle/>
          <a:p>
            <a:r>
              <a:rPr lang="en-US" dirty="0"/>
              <a:t>LEVIATHAN PROTOCOL</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7385616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12420" y="231558"/>
            <a:ext cx="8421688" cy="1325563"/>
          </a:xfrm>
        </p:spPr>
        <p:txBody>
          <a:bodyPr>
            <a:normAutofit/>
          </a:bodyPr>
          <a:lstStyle/>
          <a:p>
            <a:r>
              <a:rPr lang="en-US" sz="4800" b="1" dirty="0">
                <a:highlight>
                  <a:srgbClr val="E9E6DF"/>
                </a:highlight>
              </a:rPr>
              <a:t>SOLUTION </a:t>
            </a:r>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3"/>
          </p:nvPr>
        </p:nvSpPr>
        <p:spPr>
          <a:xfrm>
            <a:off x="2161309" y="1880755"/>
            <a:ext cx="8145535" cy="3699163"/>
          </a:xfrm>
        </p:spPr>
        <p:txBody>
          <a:bodyPr>
            <a:normAutofit/>
          </a:bodyPr>
          <a:lstStyle/>
          <a:p>
            <a:r>
              <a:rPr lang="en-US" sz="2200" b="1" i="1" dirty="0"/>
              <a:t>A Man Overboard (MOB) system is an integrated safety and telemetry network designed to detect when a person falls from a vessel, track their drift in open water, and execute rapid recovery before cold-water incapacitation or drowning occurs.</a:t>
            </a:r>
          </a:p>
          <a:p>
            <a:endParaRPr lang="en-US" sz="2200" b="1" i="1" dirty="0"/>
          </a:p>
          <a:p>
            <a:r>
              <a:rPr lang="en-US" sz="2200" b="1" i="1" dirty="0"/>
              <a:t>An MOB (Man Overboard) watch or smart wristband is built for survival and rapid RF broadcasting rather than everyday smartwatch features. It prioritizes rugged sealing, high-visibility casing, and physical emergency sensors.</a:t>
            </a:r>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a:lstStyle/>
          <a:p>
            <a:r>
              <a:rPr lang="en-US" dirty="0"/>
              <a:t>2026</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a:lstStyle/>
          <a:p>
            <a:r>
              <a:rPr lang="en-US" dirty="0"/>
              <a:t>LEVIATHAN PROTOCOL</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4</a:t>
            </a:fld>
            <a:endParaRPr lang="en-US" dirty="0"/>
          </a:p>
        </p:txBody>
      </p:sp>
    </p:spTree>
    <p:extLst>
      <p:ext uri="{BB962C8B-B14F-4D97-AF65-F5344CB8AC3E}">
        <p14:creationId xmlns:p14="http://schemas.microsoft.com/office/powerpoint/2010/main" val="15939208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394854" y="4095352"/>
            <a:ext cx="3293919" cy="1911886"/>
          </a:xfrm>
        </p:spPr>
        <p:txBody>
          <a:bodyPr/>
          <a:lstStyle/>
          <a:p>
            <a:r>
              <a:rPr lang="en-US" sz="4000" b="1" dirty="0"/>
              <a:t>HOW IT WORKS ?</a:t>
            </a:r>
            <a:br>
              <a:rPr lang="en-US" dirty="0"/>
            </a:br>
            <a:endParaRPr lang="en-US" dirty="0"/>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4758472" y="674113"/>
            <a:ext cx="5433204" cy="365125"/>
          </a:xfrm>
        </p:spPr>
        <p:txBody>
          <a:bodyPr vert="horz" lIns="91440" tIns="45720" rIns="91440" bIns="45720" rtlCol="0" anchor="t">
            <a:normAutofit lnSpcReduction="10000"/>
          </a:bodyPr>
          <a:lstStyle/>
          <a:p>
            <a:r>
              <a:rPr lang="en-US" b="1" dirty="0"/>
              <a:t>PHASE 1</a:t>
            </a:r>
          </a:p>
          <a:p>
            <a:endParaRPr lang="en-US" dirty="0"/>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5371110" y="1073401"/>
            <a:ext cx="5431971" cy="1029934"/>
          </a:xfrm>
        </p:spPr>
        <p:txBody>
          <a:bodyPr>
            <a:normAutofit/>
          </a:bodyPr>
          <a:lstStyle/>
          <a:p>
            <a:r>
              <a:rPr lang="en-US" sz="1600" b="1" dirty="0"/>
              <a:t>The Fall (Instant Trigger): </a:t>
            </a:r>
            <a:r>
              <a:rPr lang="en-US" sz="1500" dirty="0"/>
              <a:t>When a person falls into the sea, salt water touches sensors on their wristband. This immediately wakes the device up—even if the person is knocked unconscious and cannot press the SOS button.</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23"/>
          </p:nvPr>
        </p:nvSpPr>
        <p:spPr>
          <a:xfrm>
            <a:off x="4758472" y="2433223"/>
            <a:ext cx="5433204" cy="365125"/>
          </a:xfrm>
        </p:spPr>
        <p:txBody>
          <a:bodyPr>
            <a:normAutofit lnSpcReduction="10000"/>
          </a:bodyPr>
          <a:lstStyle/>
          <a:p>
            <a:r>
              <a:rPr lang="en-US" b="1" dirty="0"/>
              <a:t>PHASE 2</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24"/>
          </p:nvPr>
        </p:nvSpPr>
        <p:spPr>
          <a:xfrm>
            <a:off x="5268685" y="2796383"/>
            <a:ext cx="6082966" cy="872439"/>
          </a:xfrm>
        </p:spPr>
        <p:txBody>
          <a:bodyPr>
            <a:normAutofit fontScale="85000" lnSpcReduction="10000"/>
          </a:bodyPr>
          <a:lstStyle/>
          <a:p>
            <a:r>
              <a:rPr lang="en-US" sz="1900" b="1" dirty="0"/>
              <a:t>The Call (Radio Message): </a:t>
            </a:r>
            <a:r>
              <a:rPr lang="en-US" sz="1800" dirty="0"/>
              <a:t>The wristband grabs the person's exact GPS coordinates and shoots a radio signal (using long-range LoRa, no cell service or internet needed) directly back to the ship.</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25"/>
          </p:nvPr>
        </p:nvSpPr>
        <p:spPr>
          <a:xfrm>
            <a:off x="4756812" y="3770879"/>
            <a:ext cx="5433204" cy="365125"/>
          </a:xfrm>
        </p:spPr>
        <p:txBody>
          <a:bodyPr>
            <a:normAutofit lnSpcReduction="10000"/>
          </a:bodyPr>
          <a:lstStyle/>
          <a:p>
            <a:r>
              <a:rPr lang="en-US" b="1" dirty="0"/>
              <a:t>PHASE 3 </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26"/>
          </p:nvPr>
        </p:nvSpPr>
        <p:spPr>
          <a:xfrm>
            <a:off x="5371109" y="4095351"/>
            <a:ext cx="5980542" cy="714767"/>
          </a:xfrm>
        </p:spPr>
        <p:txBody>
          <a:bodyPr>
            <a:normAutofit fontScale="55000" lnSpcReduction="20000"/>
          </a:bodyPr>
          <a:lstStyle/>
          <a:p>
            <a:r>
              <a:rPr lang="en-US" sz="2900" b="1" dirty="0"/>
              <a:t>The Launch (Zero Delay): </a:t>
            </a:r>
            <a:r>
              <a:rPr lang="en-US" sz="2500" dirty="0"/>
              <a:t>The ship's system instantly sounds the alarm on the bridge and automatically releases a small, unmanned motorboat into the water from the back of the ship to rescue the fallen off member</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8"/>
          </p:nvPr>
        </p:nvSpPr>
        <p:spPr>
          <a:xfrm>
            <a:off x="5658854" y="5438695"/>
            <a:ext cx="5431971" cy="1289948"/>
          </a:xfrm>
        </p:spPr>
        <p:txBody>
          <a:bodyPr/>
          <a:lstStyle/>
          <a:p>
            <a:r>
              <a:rPr lang="en-US" dirty="0"/>
              <a:t>Under normal working conditions on the deck, the wristband is idle. The onboard microcontroller and the transceiver remain in deep-sleep mode, drawing only microamps of current to ensure months of standby battery life. Only the immersion circuit and the hardware interrupt pin connected to the recessed SOS button remain powered.</a:t>
            </a:r>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1786103" y="6410517"/>
            <a:ext cx="947516" cy="321012"/>
          </a:xfrm>
        </p:spPr>
        <p:txBody>
          <a:bodyPr/>
          <a:lstStyle/>
          <a:p>
            <a:r>
              <a:rPr lang="en-US" dirty="0"/>
              <a:t>2026</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2378405" y="6384636"/>
            <a:ext cx="3243942" cy="365125"/>
          </a:xfrm>
        </p:spPr>
        <p:txBody>
          <a:bodyPr/>
          <a:lstStyle/>
          <a:p>
            <a:r>
              <a:rPr lang="en-US" dirty="0"/>
              <a:t>LEVIATHAN PROTOCOL</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1351651" y="6363518"/>
            <a:ext cx="653143" cy="365125"/>
          </a:xfrm>
        </p:spPr>
        <p:txBody>
          <a:bodyPr/>
          <a:lstStyle/>
          <a:p>
            <a:fld id="{B5CEABB6-07DC-46E8-9B57-56EC44A396E5}" type="slidenum">
              <a:rPr lang="en-US" smtClean="0"/>
              <a:pPr/>
              <a:t>5</a:t>
            </a:fld>
            <a:endParaRPr lang="en-US" dirty="0"/>
          </a:p>
        </p:txBody>
      </p:sp>
      <p:pic>
        <p:nvPicPr>
          <p:cNvPr id="14" name="Picture 13" descr="A black and grey smart watch&#10;&#10;Description automatically generated">
            <a:extLst>
              <a:ext uri="{FF2B5EF4-FFF2-40B4-BE49-F238E27FC236}">
                <a16:creationId xmlns:a16="http://schemas.microsoft.com/office/drawing/2014/main" id="{FAF9477E-FC6D-6456-B0DD-1AA850A8113C}"/>
              </a:ext>
            </a:extLst>
          </p:cNvPr>
          <p:cNvPicPr>
            <a:picLocks noChangeAspect="1"/>
          </p:cNvPicPr>
          <p:nvPr/>
        </p:nvPicPr>
        <p:blipFill>
          <a:blip r:embed="rId2"/>
          <a:stretch>
            <a:fillRect/>
          </a:stretch>
        </p:blipFill>
        <p:spPr>
          <a:xfrm>
            <a:off x="-1" y="-1"/>
            <a:ext cx="4756813" cy="4059653"/>
          </a:xfrm>
          <a:prstGeom prst="rect">
            <a:avLst/>
          </a:prstGeom>
        </p:spPr>
      </p:pic>
      <p:sp>
        <p:nvSpPr>
          <p:cNvPr id="16" name="Text Placeholder 15">
            <a:extLst>
              <a:ext uri="{FF2B5EF4-FFF2-40B4-BE49-F238E27FC236}">
                <a16:creationId xmlns:a16="http://schemas.microsoft.com/office/drawing/2014/main" id="{7C4AB0F3-4EFD-2FE2-BD2F-F3AED0AF9ACE}"/>
              </a:ext>
            </a:extLst>
          </p:cNvPr>
          <p:cNvSpPr>
            <a:spLocks noGrp="1"/>
          </p:cNvSpPr>
          <p:nvPr>
            <p:ph type="body" sz="quarter" idx="27"/>
          </p:nvPr>
        </p:nvSpPr>
        <p:spPr>
          <a:xfrm>
            <a:off x="4756812" y="5017964"/>
            <a:ext cx="5433204" cy="365125"/>
          </a:xfrm>
        </p:spPr>
        <p:txBody>
          <a:bodyPr>
            <a:normAutofit lnSpcReduction="10000"/>
          </a:bodyPr>
          <a:lstStyle/>
          <a:p>
            <a:r>
              <a:rPr lang="en-US" b="1" dirty="0"/>
              <a:t>Note:</a:t>
            </a:r>
            <a:endParaRPr lang="en-IN" b="1" dirty="0"/>
          </a:p>
        </p:txBody>
      </p:sp>
    </p:spTree>
    <p:extLst>
      <p:ext uri="{BB962C8B-B14F-4D97-AF65-F5344CB8AC3E}">
        <p14:creationId xmlns:p14="http://schemas.microsoft.com/office/powerpoint/2010/main" val="1844941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1824615" y="-364979"/>
            <a:ext cx="5111750" cy="1204912"/>
          </a:xfrm>
        </p:spPr>
        <p:txBody>
          <a:bodyPr>
            <a:normAutofit/>
          </a:bodyPr>
          <a:lstStyle/>
          <a:p>
            <a:pPr algn="ctr"/>
            <a:r>
              <a:rPr lang="en-US" sz="3200" b="1" u="sng" dirty="0"/>
              <a:t>BENEFITS of MOB</a:t>
            </a:r>
          </a:p>
        </p:txBody>
      </p:sp>
      <p:sp>
        <p:nvSpPr>
          <p:cNvPr id="4" name="Date Placeholder 3">
            <a:extLst>
              <a:ext uri="{FF2B5EF4-FFF2-40B4-BE49-F238E27FC236}">
                <a16:creationId xmlns:a16="http://schemas.microsoft.com/office/drawing/2014/main" id="{5C2ACA2A-6BBE-47CF-B76F-F56C9DBF77E6}"/>
              </a:ext>
            </a:extLst>
          </p:cNvPr>
          <p:cNvSpPr>
            <a:spLocks noGrp="1"/>
          </p:cNvSpPr>
          <p:nvPr>
            <p:ph type="dt" sz="half" idx="10"/>
          </p:nvPr>
        </p:nvSpPr>
        <p:spPr>
          <a:xfrm>
            <a:off x="838200" y="6356350"/>
            <a:ext cx="2743200" cy="365125"/>
          </a:xfrm>
        </p:spPr>
        <p:txBody>
          <a:bodyPr/>
          <a:lstStyle/>
          <a:p>
            <a:r>
              <a:rPr lang="en-US" dirty="0"/>
              <a:t>2026</a:t>
            </a:r>
          </a:p>
        </p:txBody>
      </p:sp>
      <p:sp>
        <p:nvSpPr>
          <p:cNvPr id="5" name="Footer Placeholder 4">
            <a:extLst>
              <a:ext uri="{FF2B5EF4-FFF2-40B4-BE49-F238E27FC236}">
                <a16:creationId xmlns:a16="http://schemas.microsoft.com/office/drawing/2014/main" id="{396A095E-DB05-47EC-A2D5-47398A4A00B4}"/>
              </a:ext>
            </a:extLst>
          </p:cNvPr>
          <p:cNvSpPr>
            <a:spLocks noGrp="1"/>
          </p:cNvSpPr>
          <p:nvPr>
            <p:ph type="ftr" sz="quarter" idx="11"/>
          </p:nvPr>
        </p:nvSpPr>
        <p:spPr>
          <a:xfrm>
            <a:off x="4694526" y="6492875"/>
            <a:ext cx="1743075" cy="365125"/>
          </a:xfrm>
        </p:spPr>
        <p:txBody>
          <a:bodyPr/>
          <a:lstStyle/>
          <a:p>
            <a:r>
              <a:rPr lang="en-US" dirty="0"/>
              <a:t>LEVIATHAN PROTOCOL</a:t>
            </a: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dirty="0"/>
          </a:p>
        </p:txBody>
      </p:sp>
      <p:graphicFrame>
        <p:nvGraphicFramePr>
          <p:cNvPr id="7" name="Table 6">
            <a:extLst>
              <a:ext uri="{FF2B5EF4-FFF2-40B4-BE49-F238E27FC236}">
                <a16:creationId xmlns:a16="http://schemas.microsoft.com/office/drawing/2014/main" id="{9EEA6686-8471-6004-9E21-6D476BA34942}"/>
              </a:ext>
            </a:extLst>
          </p:cNvPr>
          <p:cNvGraphicFramePr>
            <a:graphicFrameLocks noGrp="1"/>
          </p:cNvGraphicFramePr>
          <p:nvPr>
            <p:extLst>
              <p:ext uri="{D42A27DB-BD31-4B8C-83A1-F6EECF244321}">
                <p14:modId xmlns:p14="http://schemas.microsoft.com/office/powerpoint/2010/main" val="1439182406"/>
              </p:ext>
            </p:extLst>
          </p:nvPr>
        </p:nvGraphicFramePr>
        <p:xfrm>
          <a:off x="176645" y="1468960"/>
          <a:ext cx="8067609" cy="4724022"/>
        </p:xfrm>
        <a:graphic>
          <a:graphicData uri="http://schemas.openxmlformats.org/drawingml/2006/table">
            <a:tbl>
              <a:tblPr>
                <a:tableStyleId>{69C7853C-536D-4A76-A0AE-DD22124D55A5}</a:tableStyleId>
              </a:tblPr>
              <a:tblGrid>
                <a:gridCol w="2772331">
                  <a:extLst>
                    <a:ext uri="{9D8B030D-6E8A-4147-A177-3AD203B41FA5}">
                      <a16:colId xmlns:a16="http://schemas.microsoft.com/office/drawing/2014/main" val="2982108170"/>
                    </a:ext>
                  </a:extLst>
                </a:gridCol>
                <a:gridCol w="2647639">
                  <a:extLst>
                    <a:ext uri="{9D8B030D-6E8A-4147-A177-3AD203B41FA5}">
                      <a16:colId xmlns:a16="http://schemas.microsoft.com/office/drawing/2014/main" val="808254815"/>
                    </a:ext>
                  </a:extLst>
                </a:gridCol>
                <a:gridCol w="2647639">
                  <a:extLst>
                    <a:ext uri="{9D8B030D-6E8A-4147-A177-3AD203B41FA5}">
                      <a16:colId xmlns:a16="http://schemas.microsoft.com/office/drawing/2014/main" val="1268019831"/>
                    </a:ext>
                  </a:extLst>
                </a:gridCol>
              </a:tblGrid>
              <a:tr h="328327">
                <a:tc>
                  <a:txBody>
                    <a:bodyPr/>
                    <a:lstStyle/>
                    <a:p>
                      <a:pPr rtl="0"/>
                      <a:r>
                        <a:rPr lang="en-IN" sz="1400" b="1">
                          <a:solidFill>
                            <a:srgbClr val="1F1F1F"/>
                          </a:solidFill>
                          <a:effectLst/>
                        </a:rPr>
                        <a:t>Dimension</a:t>
                      </a:r>
                      <a:endParaRPr lang="en-IN"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IN" sz="1400" b="1">
                          <a:solidFill>
                            <a:srgbClr val="1F1F1F"/>
                          </a:solidFill>
                          <a:effectLst/>
                        </a:rPr>
                        <a:t>Traditional Maritime Rescue</a:t>
                      </a:r>
                      <a:endParaRPr lang="en-IN"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IN" sz="1400" b="1">
                          <a:solidFill>
                            <a:srgbClr val="1F1F1F"/>
                          </a:solidFill>
                          <a:effectLst/>
                        </a:rPr>
                        <a:t>Project MOB-Guard</a:t>
                      </a:r>
                      <a:endParaRPr lang="en-IN"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4864730"/>
                  </a:ext>
                </a:extLst>
              </a:tr>
              <a:tr h="557666">
                <a:tc>
                  <a:txBody>
                    <a:bodyPr/>
                    <a:lstStyle/>
                    <a:p>
                      <a:pPr rtl="0"/>
                      <a:r>
                        <a:rPr lang="en-IN" sz="1400" b="1" dirty="0">
                          <a:solidFill>
                            <a:srgbClr val="1F1F1F"/>
                          </a:solidFill>
                          <a:effectLst/>
                        </a:rPr>
                        <a:t>Trigger</a:t>
                      </a:r>
                      <a:endParaRPr lang="en-IN" sz="1400" dirty="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US" sz="1400">
                          <a:solidFill>
                            <a:srgbClr val="1F1F1F"/>
                          </a:solidFill>
                          <a:effectLst/>
                        </a:rPr>
                        <a:t>Manual observation (relies on eye-witnesses)</a:t>
                      </a:r>
                      <a:endParaRPr lang="en-US"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IN" sz="1400">
                          <a:solidFill>
                            <a:srgbClr val="1F1F1F"/>
                          </a:solidFill>
                          <a:effectLst/>
                        </a:rPr>
                        <a:t>Automatic (water-immersion &amp; depth sensors)</a:t>
                      </a:r>
                      <a:endParaRPr lang="en-IN"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9517510"/>
                  </a:ext>
                </a:extLst>
              </a:tr>
              <a:tr h="557666">
                <a:tc>
                  <a:txBody>
                    <a:bodyPr/>
                    <a:lstStyle/>
                    <a:p>
                      <a:pPr rtl="0"/>
                      <a:r>
                        <a:rPr lang="en-IN" sz="1400" b="1">
                          <a:solidFill>
                            <a:srgbClr val="1F1F1F"/>
                          </a:solidFill>
                          <a:effectLst/>
                        </a:rPr>
                        <a:t>Response Initiation</a:t>
                      </a:r>
                      <a:endParaRPr lang="en-IN"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IN" sz="1400">
                          <a:solidFill>
                            <a:srgbClr val="1F1F1F"/>
                          </a:solidFill>
                          <a:effectLst/>
                        </a:rPr>
                        <a:t>Delayed; requires crew mustering</a:t>
                      </a:r>
                      <a:endParaRPr lang="en-IN"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IN" sz="1400">
                          <a:solidFill>
                            <a:srgbClr val="1F1F1F"/>
                          </a:solidFill>
                          <a:effectLst/>
                        </a:rPr>
                        <a:t>Instant; automated launch mechanism</a:t>
                      </a:r>
                      <a:endParaRPr lang="en-IN"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306412"/>
                  </a:ext>
                </a:extLst>
              </a:tr>
              <a:tr h="557666">
                <a:tc>
                  <a:txBody>
                    <a:bodyPr/>
                    <a:lstStyle/>
                    <a:p>
                      <a:pPr rtl="0"/>
                      <a:r>
                        <a:rPr lang="en-IN" sz="1400" b="1">
                          <a:solidFill>
                            <a:srgbClr val="1F1F1F"/>
                          </a:solidFill>
                          <a:effectLst/>
                        </a:rPr>
                        <a:t>First-Contact Time</a:t>
                      </a:r>
                      <a:endParaRPr lang="en-IN"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US" sz="1400">
                          <a:solidFill>
                            <a:srgbClr val="1F1F1F"/>
                          </a:solidFill>
                          <a:effectLst/>
                        </a:rPr>
                        <a:t>15–45 minutes (full ship turnaround)</a:t>
                      </a:r>
                      <a:endParaRPr lang="en-US"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US" sz="1400">
                          <a:solidFill>
                            <a:srgbClr val="1F1F1F"/>
                          </a:solidFill>
                          <a:effectLst/>
                        </a:rPr>
                        <a:t>3–8 minutes (high-speed autonomous micro-boat)</a:t>
                      </a:r>
                      <a:endParaRPr lang="en-US"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001188"/>
                  </a:ext>
                </a:extLst>
              </a:tr>
              <a:tr h="557666">
                <a:tc>
                  <a:txBody>
                    <a:bodyPr/>
                    <a:lstStyle/>
                    <a:p>
                      <a:pPr rtl="0"/>
                      <a:r>
                        <a:rPr lang="en-IN" sz="1400" b="1">
                          <a:solidFill>
                            <a:srgbClr val="1F1F1F"/>
                          </a:solidFill>
                          <a:effectLst/>
                        </a:rPr>
                        <a:t>Connectivity</a:t>
                      </a:r>
                      <a:endParaRPr lang="en-IN"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US" sz="1400">
                          <a:solidFill>
                            <a:srgbClr val="1F1F1F"/>
                          </a:solidFill>
                          <a:effectLst/>
                        </a:rPr>
                        <a:t>Line-of-sight visual or paid satellite links</a:t>
                      </a:r>
                      <a:endParaRPr lang="en-US"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US" sz="1400">
                          <a:solidFill>
                            <a:srgbClr val="1F1F1F"/>
                          </a:solidFill>
                          <a:effectLst/>
                        </a:rPr>
                        <a:t>Direct, off-grid sub-GHz radio (LoRa)</a:t>
                      </a:r>
                      <a:endParaRPr lang="en-US"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17832740"/>
                  </a:ext>
                </a:extLst>
              </a:tr>
              <a:tr h="557666">
                <a:tc>
                  <a:txBody>
                    <a:bodyPr/>
                    <a:lstStyle/>
                    <a:p>
                      <a:pPr rtl="0"/>
                      <a:r>
                        <a:rPr lang="en-IN" sz="1400" b="1" dirty="0">
                          <a:solidFill>
                            <a:srgbClr val="1F1F1F"/>
                          </a:solidFill>
                          <a:effectLst/>
                        </a:rPr>
                        <a:t>Drift Management</a:t>
                      </a:r>
                      <a:endParaRPr lang="en-IN" sz="1400" dirty="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US" sz="1400">
                          <a:solidFill>
                            <a:srgbClr val="1F1F1F"/>
                          </a:solidFill>
                          <a:effectLst/>
                        </a:rPr>
                        <a:t>Estimated search area expanding over time</a:t>
                      </a:r>
                      <a:endParaRPr lang="en-US"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US" sz="1400">
                          <a:solidFill>
                            <a:srgbClr val="1F1F1F"/>
                          </a:solidFill>
                          <a:effectLst/>
                        </a:rPr>
                        <a:t>Dynamic GPS tracking with lead-pursuit routing</a:t>
                      </a:r>
                      <a:endParaRPr lang="en-US" sz="140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6600542"/>
                  </a:ext>
                </a:extLst>
              </a:tr>
              <a:tr h="557666">
                <a:tc>
                  <a:txBody>
                    <a:bodyPr/>
                    <a:lstStyle/>
                    <a:p>
                      <a:pPr rtl="0"/>
                      <a:r>
                        <a:rPr lang="en-IN" sz="1400" b="1" dirty="0">
                          <a:solidFill>
                            <a:srgbClr val="1F1F1F"/>
                          </a:solidFill>
                          <a:effectLst/>
                        </a:rPr>
                        <a:t>Rescuer Risk</a:t>
                      </a:r>
                      <a:endParaRPr lang="en-IN" sz="1400" dirty="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US" sz="1400" dirty="0">
                          <a:solidFill>
                            <a:srgbClr val="1F1F1F"/>
                          </a:solidFill>
                          <a:effectLst/>
                        </a:rPr>
                        <a:t>High (crew lowers rescue boat in rough seas)</a:t>
                      </a:r>
                      <a:endParaRPr lang="en-US" sz="1400" dirty="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US" sz="1400" dirty="0">
                          <a:solidFill>
                            <a:srgbClr val="1F1F1F"/>
                          </a:solidFill>
                          <a:effectLst/>
                        </a:rPr>
                        <a:t>Zero (unmanned craft deploys first)</a:t>
                      </a:r>
                      <a:endParaRPr lang="en-US" sz="1400" dirty="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7901062"/>
                  </a:ext>
                </a:extLst>
              </a:tr>
              <a:tr h="557666">
                <a:tc>
                  <a:txBody>
                    <a:bodyPr/>
                    <a:lstStyle/>
                    <a:p>
                      <a:pPr rtl="0"/>
                      <a:r>
                        <a:rPr lang="en-IN" sz="1400" b="1" dirty="0">
                          <a:solidFill>
                            <a:srgbClr val="1F1F1F"/>
                          </a:solidFill>
                          <a:effectLst/>
                        </a:rPr>
                        <a:t>Consciousness Dependency</a:t>
                      </a:r>
                      <a:endParaRPr lang="en-IN" sz="1400" dirty="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US" sz="1400" dirty="0">
                          <a:solidFill>
                            <a:srgbClr val="1F1F1F"/>
                          </a:solidFill>
                          <a:effectLst/>
                        </a:rPr>
                        <a:t>High (victim must tread water/wave/signal)</a:t>
                      </a:r>
                      <a:endParaRPr lang="en-US" sz="1400" dirty="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r>
                        <a:rPr lang="en-US" sz="1400" dirty="0">
                          <a:solidFill>
                            <a:srgbClr val="1F1F1F"/>
                          </a:solidFill>
                          <a:effectLst/>
                        </a:rPr>
                        <a:t>Zero (sensor fires even if victim is unconscious)</a:t>
                      </a:r>
                      <a:endParaRPr lang="en-US" sz="1400" dirty="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4130620"/>
                  </a:ext>
                </a:extLst>
              </a:tr>
              <a:tr h="492033">
                <a:tc>
                  <a:txBody>
                    <a:bodyPr/>
                    <a:lstStyle/>
                    <a:p>
                      <a:pPr rtl="0"/>
                      <a:endParaRPr lang="en-IN" sz="1400" dirty="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endParaRPr lang="en-US" sz="1400" dirty="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rtl="0"/>
                      <a:endParaRPr lang="en-US" sz="1400" dirty="0">
                        <a:solidFill>
                          <a:srgbClr val="1F1F1F"/>
                        </a:solidFill>
                        <a:effectLst/>
                        <a:latin typeface="Google Sans Text"/>
                      </a:endParaRPr>
                    </a:p>
                  </a:txBody>
                  <a:tcPr marL="69069" marR="69069" marT="46046" marB="4604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78719310"/>
                  </a:ext>
                </a:extLst>
              </a:tr>
            </a:tbl>
          </a:graphicData>
        </a:graphic>
      </p:graphicFrame>
    </p:spTree>
    <p:extLst>
      <p:ext uri="{BB962C8B-B14F-4D97-AF65-F5344CB8AC3E}">
        <p14:creationId xmlns:p14="http://schemas.microsoft.com/office/powerpoint/2010/main" val="1346372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5234193" y="449764"/>
            <a:ext cx="6803921" cy="846301"/>
          </a:xfrm>
        </p:spPr>
        <p:txBody>
          <a:bodyPr/>
          <a:lstStyle/>
          <a:p>
            <a:r>
              <a:rPr lang="en-US" sz="3200" b="1" dirty="0"/>
              <a:t>Components required</a:t>
            </a:r>
            <a:r>
              <a:rPr lang="en-US" dirty="0"/>
              <a:t>:</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96462" y="6492875"/>
            <a:ext cx="849296" cy="365125"/>
          </a:xfrm>
        </p:spPr>
        <p:txBody>
          <a:bodyPr/>
          <a:lstStyle/>
          <a:p>
            <a:r>
              <a:rPr lang="en-US" dirty="0"/>
              <a:t>2026</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676213" y="84638"/>
            <a:ext cx="3243942" cy="365125"/>
          </a:xfrm>
        </p:spPr>
        <p:txBody>
          <a:bodyPr/>
          <a:lstStyle/>
          <a:p>
            <a:r>
              <a:rPr lang="en-US" dirty="0"/>
              <a:t>LEVIATHAN PROTOCOL</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1538857" y="84639"/>
            <a:ext cx="653143" cy="365125"/>
          </a:xfrm>
        </p:spPr>
        <p:txBody>
          <a:bodyPr/>
          <a:lstStyle/>
          <a:p>
            <a:fld id="{19B51A1E-902D-48AF-9020-955120F399B6}" type="slidenum">
              <a:rPr lang="en-US" smtClean="0"/>
              <a:pPr/>
              <a:t>7</a:t>
            </a:fld>
            <a:endParaRPr lang="en-US" dirty="0"/>
          </a:p>
        </p:txBody>
      </p:sp>
      <p:graphicFrame>
        <p:nvGraphicFramePr>
          <p:cNvPr id="18" name="Table 17">
            <a:extLst>
              <a:ext uri="{FF2B5EF4-FFF2-40B4-BE49-F238E27FC236}">
                <a16:creationId xmlns:a16="http://schemas.microsoft.com/office/drawing/2014/main" id="{76E32F60-F067-646E-E1E0-078FFB306CAD}"/>
              </a:ext>
            </a:extLst>
          </p:cNvPr>
          <p:cNvGraphicFramePr>
            <a:graphicFrameLocks noGrp="1"/>
          </p:cNvGraphicFramePr>
          <p:nvPr>
            <p:extLst>
              <p:ext uri="{D42A27DB-BD31-4B8C-83A1-F6EECF244321}">
                <p14:modId xmlns:p14="http://schemas.microsoft.com/office/powerpoint/2010/main" val="1393913082"/>
              </p:ext>
            </p:extLst>
          </p:nvPr>
        </p:nvGraphicFramePr>
        <p:xfrm>
          <a:off x="1423555" y="1716660"/>
          <a:ext cx="10671983" cy="5141340"/>
        </p:xfrm>
        <a:graphic>
          <a:graphicData uri="http://schemas.openxmlformats.org/drawingml/2006/table">
            <a:tbl>
              <a:tblPr firstRow="1" firstCol="1" bandRow="1">
                <a:tableStyleId>{69C7853C-536D-4A76-A0AE-DD22124D55A5}</a:tableStyleId>
              </a:tblPr>
              <a:tblGrid>
                <a:gridCol w="2847670">
                  <a:extLst>
                    <a:ext uri="{9D8B030D-6E8A-4147-A177-3AD203B41FA5}">
                      <a16:colId xmlns:a16="http://schemas.microsoft.com/office/drawing/2014/main" val="1253460151"/>
                    </a:ext>
                  </a:extLst>
                </a:gridCol>
                <a:gridCol w="3869020">
                  <a:extLst>
                    <a:ext uri="{9D8B030D-6E8A-4147-A177-3AD203B41FA5}">
                      <a16:colId xmlns:a16="http://schemas.microsoft.com/office/drawing/2014/main" val="2258175327"/>
                    </a:ext>
                  </a:extLst>
                </a:gridCol>
                <a:gridCol w="3955293">
                  <a:extLst>
                    <a:ext uri="{9D8B030D-6E8A-4147-A177-3AD203B41FA5}">
                      <a16:colId xmlns:a16="http://schemas.microsoft.com/office/drawing/2014/main" val="366762049"/>
                    </a:ext>
                  </a:extLst>
                </a:gridCol>
              </a:tblGrid>
              <a:tr h="872952">
                <a:tc>
                  <a:txBody>
                    <a:bodyPr/>
                    <a:lstStyle/>
                    <a:p>
                      <a:r>
                        <a:rPr lang="en-IN" sz="2400" dirty="0"/>
                        <a:t>Category</a:t>
                      </a:r>
                    </a:p>
                  </a:txBody>
                  <a:tcPr/>
                </a:tc>
                <a:tc>
                  <a:txBody>
                    <a:bodyPr/>
                    <a:lstStyle/>
                    <a:p>
                      <a:r>
                        <a:rPr lang="en-IN" sz="2400" b="1" dirty="0"/>
                        <a:t>Component / Product</a:t>
                      </a:r>
                    </a:p>
                  </a:txBody>
                  <a:tcPr/>
                </a:tc>
                <a:tc>
                  <a:txBody>
                    <a:bodyPr/>
                    <a:lstStyle/>
                    <a:p>
                      <a:r>
                        <a:rPr lang="en-IN" sz="2400" dirty="0"/>
                        <a:t>Purpose</a:t>
                      </a:r>
                    </a:p>
                  </a:txBody>
                  <a:tcPr/>
                </a:tc>
                <a:extLst>
                  <a:ext uri="{0D108BD9-81ED-4DB2-BD59-A6C34878D82A}">
                    <a16:rowId xmlns:a16="http://schemas.microsoft.com/office/drawing/2014/main" val="311544893"/>
                  </a:ext>
                </a:extLst>
              </a:tr>
              <a:tr h="969949">
                <a:tc>
                  <a:txBody>
                    <a:bodyPr/>
                    <a:lstStyle/>
                    <a:p>
                      <a:r>
                        <a:rPr lang="en-IN" dirty="0"/>
                        <a:t>Microcontroller &amp; RF</a:t>
                      </a:r>
                    </a:p>
                  </a:txBody>
                  <a:tcPr/>
                </a:tc>
                <a:tc>
                  <a:txBody>
                    <a:bodyPr/>
                    <a:lstStyle/>
                    <a:p>
                      <a:r>
                        <a:rPr lang="en-US" dirty="0"/>
                        <a:t>ESP32 with LoRa (e.g., TTGO T-Beam) or STM32WL55</a:t>
                      </a:r>
                      <a:endParaRPr lang="en-IN" dirty="0"/>
                    </a:p>
                  </a:txBody>
                  <a:tcPr/>
                </a:tc>
                <a:tc>
                  <a:txBody>
                    <a:bodyPr/>
                    <a:lstStyle/>
                    <a:p>
                      <a:r>
                        <a:rPr lang="en-US" dirty="0"/>
                        <a:t>Handles low-power sleep cycles, reads sensors, and transmits Sub-GHz telemetry.</a:t>
                      </a:r>
                      <a:endParaRPr lang="en-IN" dirty="0"/>
                    </a:p>
                  </a:txBody>
                  <a:tcPr/>
                </a:tc>
                <a:extLst>
                  <a:ext uri="{0D108BD9-81ED-4DB2-BD59-A6C34878D82A}">
                    <a16:rowId xmlns:a16="http://schemas.microsoft.com/office/drawing/2014/main" val="1606021187"/>
                  </a:ext>
                </a:extLst>
              </a:tr>
              <a:tr h="756519">
                <a:tc>
                  <a:txBody>
                    <a:bodyPr/>
                    <a:lstStyle/>
                    <a:p>
                      <a:r>
                        <a:rPr lang="en-IN" dirty="0"/>
                        <a:t>GNSS / Positioning</a:t>
                      </a:r>
                    </a:p>
                  </a:txBody>
                  <a:tcPr/>
                </a:tc>
                <a:tc>
                  <a:txBody>
                    <a:bodyPr/>
                    <a:lstStyle/>
                    <a:p>
                      <a:r>
                        <a:rPr lang="pl-PL" dirty="0"/>
                        <a:t>u-blox NEO-8M / SAM-M8Q GPS Module</a:t>
                      </a:r>
                      <a:endParaRPr lang="en-IN" dirty="0"/>
                    </a:p>
                  </a:txBody>
                  <a:tcPr/>
                </a:tc>
                <a:tc>
                  <a:txBody>
                    <a:bodyPr/>
                    <a:lstStyle/>
                    <a:p>
                      <a:r>
                        <a:rPr lang="en-US" dirty="0"/>
                        <a:t>Acquires latitude, longitude, and ground speed.</a:t>
                      </a:r>
                      <a:endParaRPr lang="en-IN" dirty="0"/>
                    </a:p>
                  </a:txBody>
                  <a:tcPr/>
                </a:tc>
                <a:extLst>
                  <a:ext uri="{0D108BD9-81ED-4DB2-BD59-A6C34878D82A}">
                    <a16:rowId xmlns:a16="http://schemas.microsoft.com/office/drawing/2014/main" val="2703177998"/>
                  </a:ext>
                </a:extLst>
              </a:tr>
              <a:tr h="1188892">
                <a:tc>
                  <a:txBody>
                    <a:bodyPr/>
                    <a:lstStyle/>
                    <a:p>
                      <a:r>
                        <a:rPr lang="en-IN" dirty="0"/>
                        <a:t>Pressure Verification</a:t>
                      </a:r>
                    </a:p>
                  </a:txBody>
                  <a:tcPr/>
                </a:tc>
                <a:tc>
                  <a:txBody>
                    <a:bodyPr/>
                    <a:lstStyle/>
                    <a:p>
                      <a:r>
                        <a:rPr lang="en-US" dirty="0"/>
                        <a:t>BMP280 or MS5837 waterproof pressure sensor</a:t>
                      </a:r>
                      <a:endParaRPr lang="en-IN" dirty="0"/>
                    </a:p>
                  </a:txBody>
                  <a:tcPr/>
                </a:tc>
                <a:tc>
                  <a:txBody>
                    <a:bodyPr/>
                    <a:lstStyle/>
                    <a:p>
                      <a:r>
                        <a:rPr lang="en-US" dirty="0"/>
                        <a:t>Reads hydrostatic pressure to filter out rain or splashes.</a:t>
                      </a:r>
                      <a:endParaRPr lang="en-IN" dirty="0"/>
                    </a:p>
                  </a:txBody>
                  <a:tcPr/>
                </a:tc>
                <a:extLst>
                  <a:ext uri="{0D108BD9-81ED-4DB2-BD59-A6C34878D82A}">
                    <a16:rowId xmlns:a16="http://schemas.microsoft.com/office/drawing/2014/main" val="2882859255"/>
                  </a:ext>
                </a:extLst>
              </a:tr>
              <a:tr h="676514">
                <a:tc>
                  <a:txBody>
                    <a:bodyPr/>
                    <a:lstStyle/>
                    <a:p>
                      <a:r>
                        <a:rPr lang="en-IN" dirty="0"/>
                        <a:t>SOS Override</a:t>
                      </a:r>
                    </a:p>
                  </a:txBody>
                  <a:tcPr/>
                </a:tc>
                <a:tc>
                  <a:txBody>
                    <a:bodyPr/>
                    <a:lstStyle/>
                    <a:p>
                      <a:r>
                        <a:rPr lang="en-US" dirty="0"/>
                        <a:t>IP67/IP68 momentary waterproof push button</a:t>
                      </a:r>
                      <a:endParaRPr lang="en-IN" dirty="0"/>
                    </a:p>
                  </a:txBody>
                  <a:tcPr/>
                </a:tc>
                <a:tc>
                  <a:txBody>
                    <a:bodyPr/>
                    <a:lstStyle/>
                    <a:p>
                      <a:r>
                        <a:rPr lang="en-US" dirty="0"/>
                        <a:t>Enables manual triggering under a protective safety cap.</a:t>
                      </a:r>
                      <a:endParaRPr lang="en-IN" dirty="0"/>
                    </a:p>
                  </a:txBody>
                  <a:tcPr/>
                </a:tc>
                <a:extLst>
                  <a:ext uri="{0D108BD9-81ED-4DB2-BD59-A6C34878D82A}">
                    <a16:rowId xmlns:a16="http://schemas.microsoft.com/office/drawing/2014/main" val="1668590559"/>
                  </a:ext>
                </a:extLst>
              </a:tr>
              <a:tr h="676514">
                <a:tc>
                  <a:txBody>
                    <a:bodyPr/>
                    <a:lstStyle/>
                    <a:p>
                      <a:r>
                        <a:rPr lang="en-IN" dirty="0"/>
                        <a:t>Power Supply</a:t>
                      </a:r>
                    </a:p>
                  </a:txBody>
                  <a:tcPr/>
                </a:tc>
                <a:tc>
                  <a:txBody>
                    <a:bodyPr/>
                    <a:lstStyle/>
                    <a:p>
                      <a:r>
                        <a:rPr lang="en-IN" dirty="0"/>
                        <a:t>3.7V 500–800 </a:t>
                      </a:r>
                      <a:r>
                        <a:rPr lang="en-IN" dirty="0" err="1"/>
                        <a:t>mAh</a:t>
                      </a:r>
                      <a:r>
                        <a:rPr lang="en-IN" dirty="0"/>
                        <a:t> LiPo battery + TP4056 charging IC</a:t>
                      </a:r>
                    </a:p>
                  </a:txBody>
                  <a:tcPr/>
                </a:tc>
                <a:tc>
                  <a:txBody>
                    <a:bodyPr/>
                    <a:lstStyle/>
                    <a:p>
                      <a:r>
                        <a:rPr lang="en-US" dirty="0"/>
                        <a:t>Compact power with low self-discharge.</a:t>
                      </a:r>
                      <a:endParaRPr lang="en-IN" dirty="0"/>
                    </a:p>
                  </a:txBody>
                  <a:tcPr/>
                </a:tc>
                <a:extLst>
                  <a:ext uri="{0D108BD9-81ED-4DB2-BD59-A6C34878D82A}">
                    <a16:rowId xmlns:a16="http://schemas.microsoft.com/office/drawing/2014/main" val="804131655"/>
                  </a:ext>
                </a:extLst>
              </a:tr>
            </a:tbl>
          </a:graphicData>
        </a:graphic>
      </p:graphicFrame>
    </p:spTree>
    <p:extLst>
      <p:ext uri="{BB962C8B-B14F-4D97-AF65-F5344CB8AC3E}">
        <p14:creationId xmlns:p14="http://schemas.microsoft.com/office/powerpoint/2010/main" val="20693930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5476875" y="444954"/>
            <a:ext cx="5387770" cy="970891"/>
          </a:xfrm>
        </p:spPr>
        <p:txBody>
          <a:bodyPr>
            <a:normAutofit/>
          </a:bodyPr>
          <a:lstStyle/>
          <a:p>
            <a:r>
              <a:rPr lang="en-US" sz="4000" b="1" dirty="0"/>
              <a:t>SUMMARY</a:t>
            </a:r>
          </a:p>
        </p:txBody>
      </p:sp>
      <p:sp>
        <p:nvSpPr>
          <p:cNvPr id="3" name="Content Placeholder 2">
            <a:extLst>
              <a:ext uri="{FF2B5EF4-FFF2-40B4-BE49-F238E27FC236}">
                <a16:creationId xmlns:a16="http://schemas.microsoft.com/office/drawing/2014/main" id="{E14BBEAF-B516-45F4-9EF6-A9F65111580F}"/>
              </a:ext>
            </a:extLst>
          </p:cNvPr>
          <p:cNvSpPr>
            <a:spLocks noGrp="1"/>
          </p:cNvSpPr>
          <p:nvPr>
            <p:ph type="body" idx="1"/>
          </p:nvPr>
        </p:nvSpPr>
        <p:spPr>
          <a:xfrm>
            <a:off x="5476874" y="1868129"/>
            <a:ext cx="5722067" cy="3726426"/>
          </a:xfrm>
        </p:spPr>
        <p:txBody>
          <a:bodyPr vert="horz" lIns="91440" tIns="45720" rIns="91440" bIns="45720" rtlCol="0" anchor="b">
            <a:normAutofit fontScale="32500" lnSpcReduction="20000"/>
          </a:bodyPr>
          <a:lstStyle/>
          <a:p>
            <a:pPr algn="ctr"/>
            <a:endParaRPr lang="en-US" dirty="0"/>
          </a:p>
          <a:p>
            <a:pPr algn="ctr"/>
            <a:endParaRPr lang="en-US" dirty="0"/>
          </a:p>
          <a:p>
            <a:pPr algn="ctr"/>
            <a:endParaRPr lang="en-US" dirty="0"/>
          </a:p>
          <a:p>
            <a:pPr algn="ctr"/>
            <a:r>
              <a:rPr lang="en-US" sz="4900" b="1" dirty="0"/>
              <a:t>The Problem</a:t>
            </a:r>
            <a:r>
              <a:rPr lang="en-US" sz="4900" dirty="0"/>
              <a:t>: Man Overboard incidents have high fatality rates caused by delayed detection, vessel turning inertia, and rapid hypothermia.</a:t>
            </a:r>
          </a:p>
          <a:p>
            <a:pPr algn="ctr"/>
            <a:r>
              <a:rPr lang="en-US" sz="4900" b="1" dirty="0"/>
              <a:t>Our Solution</a:t>
            </a:r>
            <a:r>
              <a:rPr lang="en-US" sz="4900" dirty="0"/>
              <a:t>: A closed-loop rescue system combining a water-activated GPS/LoRa wristband with an instantly deployed autonomous micro-boat.</a:t>
            </a:r>
          </a:p>
          <a:p>
            <a:pPr algn="ctr"/>
            <a:r>
              <a:rPr lang="en-US" sz="4900" b="1" dirty="0"/>
              <a:t>The Impact</a:t>
            </a:r>
            <a:r>
              <a:rPr lang="en-US" sz="4900" dirty="0"/>
              <a:t>: Cuts first-contact rescue time from 30+ minutes to under 8 minutes, operates entirely off-grid, and delivers immediate flotation before cold-water incapacitation sets in.</a:t>
            </a:r>
          </a:p>
          <a:p>
            <a:pPr algn="ctr"/>
            <a:r>
              <a:rPr lang="en-US" sz="4900" b="1" dirty="0"/>
              <a:t>Takeaway</a:t>
            </a:r>
            <a:r>
              <a:rPr lang="en-US" sz="4900" dirty="0"/>
              <a:t>: Turning chaotic search-and-rescue into calculated, autonomous life-saving precision.</a:t>
            </a:r>
          </a:p>
          <a:p>
            <a:pPr algn="ctr"/>
            <a:endParaRPr lang="en-US" sz="4900" dirty="0"/>
          </a:p>
          <a:p>
            <a:pPr algn="ctr"/>
            <a:endParaRPr lang="en-US" dirty="0"/>
          </a:p>
        </p:txBody>
      </p:sp>
      <p:sp>
        <p:nvSpPr>
          <p:cNvPr id="4" name="Date Placeholder 3">
            <a:extLst>
              <a:ext uri="{FF2B5EF4-FFF2-40B4-BE49-F238E27FC236}">
                <a16:creationId xmlns:a16="http://schemas.microsoft.com/office/drawing/2014/main" id="{13F8C8B5-F6EC-489B-BD0F-CD89A73CAB3A}"/>
              </a:ext>
            </a:extLst>
          </p:cNvPr>
          <p:cNvSpPr>
            <a:spLocks noGrp="1"/>
          </p:cNvSpPr>
          <p:nvPr>
            <p:ph type="dt" sz="half" idx="10"/>
          </p:nvPr>
        </p:nvSpPr>
        <p:spPr>
          <a:xfrm>
            <a:off x="838200" y="6356350"/>
            <a:ext cx="2743200" cy="365125"/>
          </a:xfrm>
        </p:spPr>
        <p:txBody>
          <a:bodyPr/>
          <a:lstStyle/>
          <a:p>
            <a:r>
              <a:rPr lang="en-US" dirty="0"/>
              <a:t>2026</a:t>
            </a:r>
          </a:p>
        </p:txBody>
      </p:sp>
      <p:sp>
        <p:nvSpPr>
          <p:cNvPr id="5" name="Footer Placeholder 4">
            <a:extLst>
              <a:ext uri="{FF2B5EF4-FFF2-40B4-BE49-F238E27FC236}">
                <a16:creationId xmlns:a16="http://schemas.microsoft.com/office/drawing/2014/main" id="{11AEA823-8519-4F9D-81FA-3673131076FC}"/>
              </a:ext>
            </a:extLst>
          </p:cNvPr>
          <p:cNvSpPr>
            <a:spLocks noGrp="1"/>
          </p:cNvSpPr>
          <p:nvPr>
            <p:ph type="ftr" sz="quarter" idx="11"/>
          </p:nvPr>
        </p:nvSpPr>
        <p:spPr>
          <a:xfrm>
            <a:off x="4038600" y="6356350"/>
            <a:ext cx="4114800" cy="365125"/>
          </a:xfrm>
        </p:spPr>
        <p:txBody>
          <a:bodyPr/>
          <a:lstStyle/>
          <a:p>
            <a:r>
              <a:rPr lang="en-US" dirty="0"/>
              <a:t>LEVIATHAN PROTOCOL</a:t>
            </a:r>
          </a:p>
        </p:txBody>
      </p:sp>
      <p:sp>
        <p:nvSpPr>
          <p:cNvPr id="6" name="Slide Number Placeholder 5">
            <a:extLst>
              <a:ext uri="{FF2B5EF4-FFF2-40B4-BE49-F238E27FC236}">
                <a16:creationId xmlns:a16="http://schemas.microsoft.com/office/drawing/2014/main" id="{BAEFF51B-0E28-4171-AE7C-A31AAB42BC7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8</a:t>
            </a:fld>
            <a:endParaRPr lang="en-US" dirty="0"/>
          </a:p>
        </p:txBody>
      </p:sp>
    </p:spTree>
    <p:extLst>
      <p:ext uri="{BB962C8B-B14F-4D97-AF65-F5344CB8AC3E}">
        <p14:creationId xmlns:p14="http://schemas.microsoft.com/office/powerpoint/2010/main" val="9201739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118721"/>
            <a:ext cx="4179570" cy="1524735"/>
          </a:xfrm>
        </p:spPr>
        <p:txBody>
          <a:bodyPr/>
          <a:lstStyle/>
          <a:p>
            <a:r>
              <a:rPr lang="en-US" sz="3600" b="1"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523600"/>
          </a:xfrm>
        </p:spPr>
        <p:txBody>
          <a:bodyPr>
            <a:normAutofit/>
          </a:bodyPr>
          <a:lstStyle/>
          <a:p>
            <a:r>
              <a:rPr lang="en-US" dirty="0"/>
              <a:t>PROJECT BY</a:t>
            </a:r>
          </a:p>
          <a:p>
            <a:r>
              <a:rPr lang="en-US" dirty="0"/>
              <a:t>  AKASH.S  [CSE]</a:t>
            </a:r>
          </a:p>
          <a:p>
            <a:r>
              <a:rPr lang="en-US" dirty="0"/>
              <a:t>  MUKILAN.R.M  [CSE]</a:t>
            </a:r>
          </a:p>
          <a:p>
            <a:r>
              <a:rPr lang="en-US" dirty="0"/>
              <a:t>  HARISARAN.D.A  [MECH]</a:t>
            </a:r>
          </a:p>
          <a:p>
            <a:r>
              <a:rPr lang="en-US" dirty="0"/>
              <a:t>  ASHVATH.U   [MECH]</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a:lstStyle/>
          <a:p>
            <a:r>
              <a:rPr lang="en-US" dirty="0"/>
              <a:t>2026</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a:lstStyle/>
          <a:p>
            <a:r>
              <a:rPr lang="en-US" dirty="0"/>
              <a:t>LEVIATHAN PROTOCOL</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9</a:t>
            </a:fld>
            <a:endParaRPr lang="en-US" dirty="0"/>
          </a:p>
        </p:txBody>
      </p:sp>
    </p:spTree>
    <p:extLst>
      <p:ext uri="{BB962C8B-B14F-4D97-AF65-F5344CB8AC3E}">
        <p14:creationId xmlns:p14="http://schemas.microsoft.com/office/powerpoint/2010/main" val="2436493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2.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{90683DCD-C802-4BF6-801D-36625535D25D}TF1ed81438-95a7-4ae9-841d-43ea2c64f7fc8ae7ff09_win32-aa52a5bb69e3</Template>
  <TotalTime>190</TotalTime>
  <Words>933</Words>
  <Application>Microsoft Office PowerPoint</Application>
  <PresentationFormat>Widescreen</PresentationFormat>
  <Paragraphs>111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Google Sans Text</vt:lpstr>
      <vt:lpstr>Tenorite</vt:lpstr>
      <vt:lpstr>Monoline</vt:lpstr>
      <vt:lpstr>LEVIATHAN PROTOCOL</vt:lpstr>
      <vt:lpstr>ABOUT The Project</vt:lpstr>
      <vt:lpstr>PROBLEMs</vt:lpstr>
      <vt:lpstr>SOLUTION </vt:lpstr>
      <vt:lpstr>HOW IT WORKS ? </vt:lpstr>
      <vt:lpstr>BENEFITS of MOB</vt:lpstr>
      <vt:lpstr>Components required:</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S</dc:creator>
  <cp:lastModifiedBy>AKASH S</cp:lastModifiedBy>
  <cp:revision>10</cp:revision>
  <dcterms:created xsi:type="dcterms:W3CDTF">2026-09-21T12:52:09Z</dcterms:created>
  <dcterms:modified xsi:type="dcterms:W3CDTF">2026-09-22T12:43:40Z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